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9ad11a03204e55" /><Relationship Type="http://schemas.openxmlformats.org/officeDocument/2006/relationships/extended-properties" Target="/docProps/app.xml" Id="R537bd511d2eb4d9f" /><Relationship Type="http://schemas.openxmlformats.org/officeDocument/2006/relationships/officeDocument" Target="/ppt/presentation.xml" Id="R8f150c2cdc0449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bf918602db460b"/>
  </p:sldMasterIdLst>
  <p:notesMasterIdLst>
    <p:notesMasterId xmlns:r="http://schemas.openxmlformats.org/officeDocument/2006/relationships" r:id="Rb06c2f2ae3fb4439"/>
  </p:notesMasterIdLst>
  <p:sldIdLst>
    <p:sldId xmlns:r="http://schemas.openxmlformats.org/officeDocument/2006/relationships" id="256" r:id="Rf33a2303dab448c2"/>
    <p:sldId xmlns:r="http://schemas.openxmlformats.org/officeDocument/2006/relationships" id="257" r:id="R4b3a4908e0d242a8"/>
    <p:sldId xmlns:r="http://schemas.openxmlformats.org/officeDocument/2006/relationships" id="258" r:id="Ra0d2ff89c2ce439a"/>
    <p:sldId xmlns:r="http://schemas.openxmlformats.org/officeDocument/2006/relationships" id="259" r:id="R5439369a8cc94692"/>
    <p:sldId xmlns:r="http://schemas.openxmlformats.org/officeDocument/2006/relationships" id="260" r:id="R22869d6488824611"/>
    <p:sldId xmlns:r="http://schemas.openxmlformats.org/officeDocument/2006/relationships" id="261" r:id="R637eb6a8eb7e4bb9"/>
    <p:sldId xmlns:r="http://schemas.openxmlformats.org/officeDocument/2006/relationships" id="262" r:id="R4648c5ba699a4017"/>
    <p:sldId xmlns:r="http://schemas.openxmlformats.org/officeDocument/2006/relationships" id="263" r:id="Rf354a0796fe54deb"/>
    <p:sldId xmlns:r="http://schemas.openxmlformats.org/officeDocument/2006/relationships" id="264" r:id="R2eb79d764e2c40bd"/>
    <p:sldId xmlns:r="http://schemas.openxmlformats.org/officeDocument/2006/relationships" id="265" r:id="R5b817cd6a4b749d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f918602db460b" /><Relationship Type="http://schemas.openxmlformats.org/officeDocument/2006/relationships/theme" Target="/ppt/theme/theme1.xml" Id="Re6956fcb8b634414" /><Relationship Type="http://schemas.openxmlformats.org/officeDocument/2006/relationships/notesMaster" Target="/ppt/notesMasters/notesMaster1.xml" Id="Rb06c2f2ae3fb4439" /><Relationship Type="http://schemas.openxmlformats.org/officeDocument/2006/relationships/presProps" Target="/ppt/presProps.xml" Id="Rdcbdb7e709db4043" /><Relationship Type="http://schemas.openxmlformats.org/officeDocument/2006/relationships/viewProps" Target="/ppt/viewProps.xml" Id="R8ed97eeacc5a4f73" /><Relationship Type="http://schemas.openxmlformats.org/officeDocument/2006/relationships/tableStyles" Target="/ppt/tableStyles.xml" Id="R332e076d004e4b31" /><Relationship Type="http://schemas.openxmlformats.org/officeDocument/2006/relationships/slide" Target="/ppt/slides/slide1.xml" Id="Rf33a2303dab448c2" /><Relationship Type="http://schemas.openxmlformats.org/officeDocument/2006/relationships/slide" Target="/ppt/slides/slide2.xml" Id="R4b3a4908e0d242a8" /><Relationship Type="http://schemas.openxmlformats.org/officeDocument/2006/relationships/slide" Target="/ppt/slides/slide3.xml" Id="Ra0d2ff89c2ce439a" /><Relationship Type="http://schemas.openxmlformats.org/officeDocument/2006/relationships/slide" Target="/ppt/slides/slide4.xml" Id="R5439369a8cc94692" /><Relationship Type="http://schemas.openxmlformats.org/officeDocument/2006/relationships/slide" Target="/ppt/slides/slide5.xml" Id="R22869d6488824611" /><Relationship Type="http://schemas.openxmlformats.org/officeDocument/2006/relationships/slide" Target="/ppt/slides/slide6.xml" Id="R637eb6a8eb7e4bb9" /><Relationship Type="http://schemas.openxmlformats.org/officeDocument/2006/relationships/slide" Target="/ppt/slides/slide7.xml" Id="R4648c5ba699a4017" /><Relationship Type="http://schemas.openxmlformats.org/officeDocument/2006/relationships/slide" Target="/ppt/slides/slide8.xml" Id="Rf354a0796fe54deb" /><Relationship Type="http://schemas.openxmlformats.org/officeDocument/2006/relationships/slide" Target="/ppt/slides/slide9.xml" Id="R2eb79d764e2c40bd" /><Relationship Type="http://schemas.openxmlformats.org/officeDocument/2006/relationships/slide" Target="/ppt/slides/slide10.xml" Id="R5b817cd6a4b749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4aaedddece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da834317c34a78" /><Relationship Type="http://schemas.openxmlformats.org/officeDocument/2006/relationships/notesMaster" Target="/ppt/notesMasters/notesMaster1.xml" Id="R824a4416979b45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6122974c58426e" /><Relationship Type="http://schemas.openxmlformats.org/officeDocument/2006/relationships/notesMaster" Target="/ppt/notesMasters/notesMaster1.xml" Id="R78c985bd7cfc49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213fd32f984efe" /><Relationship Type="http://schemas.openxmlformats.org/officeDocument/2006/relationships/notesMaster" Target="/ppt/notesMasters/notesMaster1.xml" Id="R88ff27fa0cfd49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4c37dcbce5452d" /><Relationship Type="http://schemas.openxmlformats.org/officeDocument/2006/relationships/notesMaster" Target="/ppt/notesMasters/notesMaster1.xml" Id="R658be13523ca46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0d08dc4686437d" /><Relationship Type="http://schemas.openxmlformats.org/officeDocument/2006/relationships/notesMaster" Target="/ppt/notesMasters/notesMaster1.xml" Id="Rb338089f07b942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fc45d65db14ebe" /><Relationship Type="http://schemas.openxmlformats.org/officeDocument/2006/relationships/notesMaster" Target="/ppt/notesMasters/notesMaster1.xml" Id="Rfdb0c8651adc4b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c110ff8a1748b5" /><Relationship Type="http://schemas.openxmlformats.org/officeDocument/2006/relationships/notesMaster" Target="/ppt/notesMasters/notesMaster1.xml" Id="R5b113110c6b845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2033ba9f5d45a6" /><Relationship Type="http://schemas.openxmlformats.org/officeDocument/2006/relationships/notesMaster" Target="/ppt/notesMasters/notesMaster1.xml" Id="Re56b7d1a61aa46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4e8ceec6a9418f" /><Relationship Type="http://schemas.openxmlformats.org/officeDocument/2006/relationships/notesMaster" Target="/ppt/notesMasters/notesMaster1.xml" Id="Rc61f6b33354646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75c99bc47d4f8e" /><Relationship Type="http://schemas.openxmlformats.org/officeDocument/2006/relationships/notesMaster" Target="/ppt/notesMasters/notesMaster1.xml" Id="Rd3915a7793b0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8992e83dc49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0257e45dedd4d96" /><Relationship Type="http://schemas.openxmlformats.org/officeDocument/2006/relationships/slideLayout" Target="/ppt/slideLayouts/slideLayout2.xml" Id="R6159906bdd3543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59906bdd3543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3f7f1972e746c3" /><Relationship Type="http://schemas.openxmlformats.org/officeDocument/2006/relationships/notesSlide" Target="/ppt/notesSlides/notesSlide1.xml" Id="Rdbedff1292ef44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e06fd8ffd246a6" /><Relationship Type="http://schemas.openxmlformats.org/officeDocument/2006/relationships/notesSlide" Target="/ppt/notesSlides/notesSlide2.xml" Id="R556a7e1854814c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43900bf6fa4e2a" /><Relationship Type="http://schemas.openxmlformats.org/officeDocument/2006/relationships/notesSlide" Target="/ppt/notesSlides/notesSlide3.xml" Id="R047cbff7666742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d0941efed04275" /><Relationship Type="http://schemas.openxmlformats.org/officeDocument/2006/relationships/notesSlide" Target="/ppt/notesSlides/notesSlide4.xml" Id="R91a5cc58a29d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dc55ee491b4a3f" /><Relationship Type="http://schemas.openxmlformats.org/officeDocument/2006/relationships/notesSlide" Target="/ppt/notesSlides/notesSlide5.xml" Id="R1fa0930e95b5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e2b17af1be4b19" /><Relationship Type="http://schemas.openxmlformats.org/officeDocument/2006/relationships/notesSlide" Target="/ppt/notesSlides/notesSlide6.xml" Id="R7f77a0733d0f46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fa66f2c0c14a39" /><Relationship Type="http://schemas.openxmlformats.org/officeDocument/2006/relationships/notesSlide" Target="/ppt/notesSlides/notesSlide7.xml" Id="Rb7204083e28b42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3072f37654615" /><Relationship Type="http://schemas.openxmlformats.org/officeDocument/2006/relationships/notesSlide" Target="/ppt/notesSlides/notesSlide8.xml" Id="R6741a0c730fa45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59cced465044f1" /><Relationship Type="http://schemas.openxmlformats.org/officeDocument/2006/relationships/notesSlide" Target="/ppt/notesSlides/notesSlide9.xml" Id="Rdb3ff316875f49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67c35d0e994086" /><Relationship Type="http://schemas.openxmlformats.org/officeDocument/2006/relationships/notesSlide" Target="/ppt/notesSlides/notesSlide10.xml" Id="R24632c8ae4b645a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2BA40E8-B800-4A51-93DA-05945486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43711-A205-4794-BDEA-E25E55B8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00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7E0E6"/>
                </a:solidFill>
              </a:defRPr>
            </a:pPr>
            <a:r>
              <a:rPr sz="1725">
                <a:solidFill>
                  <a:srgbClr val="D7E0E6"/>
                </a:solidFill>
              </a:rPr>
              <a:t>SENAI Lauro de Freitas - TCC em Desenvolvimento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D947D-3452-4C46-9369-6249509A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478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5F4AF-D116-4D90-957B-37C4136F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6705600" cy="293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600" b="1">
                <a:solidFill>
                  <a:srgbClr val="FFF7EA"/>
                </a:solidFill>
              </a:defRPr>
            </a:pPr>
            <a:r>
              <a:rPr sz="9600" b="1">
                <a:solidFill>
                  <a:srgbClr val="FFF7EA"/>
                </a:solidFill>
              </a:rPr>
              <a:t>Vigilancia EPI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F2977-D280-4892-9BA0-D3D962F5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96964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C7D5DD"/>
                </a:solidFill>
              </a:defRPr>
            </a:pPr>
            <a:r>
              <a:rPr sz="3000">
                <a:solidFill>
                  <a:srgbClr val="C7D5DD"/>
                </a:solidFill>
              </a:rPr>
              <a:t>Cameras comuns ajudando a prevenir acidentes antes que eles acontecam.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A8B55-9EB8-4463-ACAB-F037E462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62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466"/>
          </a:solidFill>
          <a:ln xmlns:a="http://schemas.openxmlformats.org/drawingml/2006/main" w="0">
            <a:solidFill>
              <a:srgbClr val="3654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7EFCD-28EC-4AF6-9484-B8BF90CC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05600"/>
            <a:ext cx="4876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B020"/>
                </a:solidFill>
              </a:defRPr>
            </a:pPr>
            <a:r>
              <a:rPr sz="4050" b="1">
                <a:solidFill>
                  <a:srgbClr val="FFB020"/>
                </a:solidFill>
              </a:rPr>
              <a:t>tempo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588DD-B928-4CC7-8EC0-9887C9CE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3723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alerta durante a operacao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13B1D-35B6-48DD-A14D-7D196C21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705600"/>
            <a:ext cx="4876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9A974"/>
                </a:solidFill>
              </a:defRPr>
            </a:pPr>
            <a:r>
              <a:rPr sz="4050" b="1">
                <a:solidFill>
                  <a:srgbClr val="19A974"/>
                </a:solidFill>
              </a:rPr>
              <a:t>multi-backend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AFDA3-94D7-4206-8F9E-71D7A8D9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3723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varios servidores registrados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91340-5D01-4BF3-89C5-AEE9FA9E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705600"/>
            <a:ext cx="4876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7FC8F8"/>
                </a:solidFill>
              </a:defRPr>
            </a:pPr>
            <a:r>
              <a:rPr sz="4050" b="1">
                <a:solidFill>
                  <a:srgbClr val="7FC8F8"/>
                </a:solidFill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D8017-0889-4CB9-9DEC-4553B9A2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73723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integracao com empresas</a:t>
            </a:r>
          </a:p>
        </p:txBody>
      </p:sp>
    </p:spTree>
    <p:extLst>
      <p:ext uri="{BB962C8B-B14F-4D97-AF65-F5344CB8AC3E}">
        <p14:creationId xmlns:p14="http://schemas.microsoft.com/office/powerpoint/2010/main" val="13014048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2B440A2-C61D-4EF4-BECD-39B01008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F491A-1204-4556-9FD9-F7F68030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4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6758C-E728-422B-B7CF-415ED4A9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42950"/>
            <a:ext cx="838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4B4B"/>
                </a:solidFill>
              </a:defRPr>
            </a:pPr>
            <a:r>
              <a:rPr sz="1350" b="1">
                <a:solidFill>
                  <a:srgbClr val="D94B4B"/>
                </a:solidFill>
              </a:rPr>
              <a:t>O problema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9A765F-1291-4212-AFC0-CA93533A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111823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820"/>
                </a:solidFill>
              </a:defRPr>
            </a:pPr>
            <a:r>
              <a:rPr sz="5250" b="1">
                <a:solidFill>
                  <a:srgbClr val="101820"/>
                </a:solidFill>
              </a:rPr>
              <a:t>Fiscalizar EPI o tempo inteiro nao escala.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C2D11F-12F5-47E0-AB28-0BE2A6EF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69913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46E"/>
                </a:solidFill>
              </a:defRPr>
            </a:pPr>
            <a:r>
              <a:rPr sz="2250">
                <a:solidFill>
                  <a:srgbClr val="59646E"/>
                </a:solidFill>
              </a:rPr>
              <a:t>A falha costuma ser simples; a consequencia pode ser grave.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8B8DF-ACE9-4E74-B93D-AA1B02F4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4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A6491-E930-4CA1-B901-897D498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735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A observacao manual depende de alguem estar olhando no momento certo.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2BCDA-AC63-4117-8191-23F3AC4E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4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E7941-38AD-4557-96A3-E06C1654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6686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Cameras ja existem em muitas empresas, mas geralmente so gravam.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20F4C-5C81-4203-8328-6D17F498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B4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CA272-65C8-4B78-B6C6-BC717E50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53050"/>
            <a:ext cx="7048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A equipe de seguranca precisa de apoio, nao de mais uma tarefa manual.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0A478-AF14-4319-8C5B-DFADF4D4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52900"/>
            <a:ext cx="7867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94B4B"/>
                </a:solidFill>
              </a:defRPr>
            </a:pPr>
            <a:r>
              <a:rPr sz="4050" b="1">
                <a:solidFill>
                  <a:srgbClr val="D94B4B"/>
                </a:solidFill>
              </a:rPr>
              <a:t>1 descuido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BC02A-88CB-4AC4-89EA-F4F3CBF6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00600"/>
            <a:ext cx="786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pode virar acidente, afastamento e custo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32519-F832-4539-BBD0-2003AA9C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95900"/>
            <a:ext cx="7867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E6F95"/>
                </a:solidFill>
              </a:defRPr>
            </a:pPr>
            <a:r>
              <a:rPr sz="4050" b="1">
                <a:solidFill>
                  <a:srgbClr val="2E6F95"/>
                </a:solidFill>
              </a:rPr>
              <a:t>varias areas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01551-F4D2-4BE0-9E55-86112F83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43600"/>
            <a:ext cx="786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exigem atencao simultanea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82F3E-49CA-45F9-A031-83FEB690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7867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B020"/>
                </a:solidFill>
              </a:defRPr>
            </a:pPr>
            <a:r>
              <a:rPr sz="4050" b="1">
                <a:solidFill>
                  <a:srgbClr val="FFB020"/>
                </a:solidFill>
              </a:rPr>
              <a:t>pouco registro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FE19A-A415-4FBD-85D7-EB50E568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05650"/>
            <a:ext cx="786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dificulta analise posterior</a:t>
            </a:r>
          </a:p>
        </p:txBody>
      </p:sp>
    </p:spTree>
    <p:extLst>
      <p:ext uri="{BB962C8B-B14F-4D97-AF65-F5344CB8AC3E}">
        <p14:creationId xmlns:p14="http://schemas.microsoft.com/office/powerpoint/2010/main" val="7636463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3A5D999-8802-4712-B151-77CBAF2D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714F4-7D3F-4A2E-AF65-04078451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974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AD0A1-DD22-4B7B-BF8F-F2FC281D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42950"/>
            <a:ext cx="68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A974"/>
                </a:solidFill>
              </a:defRPr>
            </a:pPr>
            <a:r>
              <a:rPr sz="1350" b="1">
                <a:solidFill>
                  <a:srgbClr val="19A974"/>
                </a:solidFill>
              </a:rPr>
              <a:t>A solucao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461D09-162C-435E-ADB6-670E6E2F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97345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820"/>
                </a:solidFill>
              </a:defRPr>
            </a:pPr>
            <a:r>
              <a:rPr sz="5250" b="1">
                <a:solidFill>
                  <a:srgbClr val="101820"/>
                </a:solidFill>
              </a:rPr>
              <a:t>O sistema olha junto com a equipe.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156679-2B01-484D-B60F-991ABE9F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672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46E"/>
                </a:solidFill>
              </a:defRPr>
            </a:pPr>
            <a:r>
              <a:rPr sz="2250">
                <a:solidFill>
                  <a:srgbClr val="59646E"/>
                </a:solidFill>
              </a:rPr>
              <a:t>O Vigilancia EPI transforma camera em alerta operacional.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8D982-E88F-4D7B-888B-A960FC60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521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9A974"/>
                </a:solidFill>
              </a:defRPr>
            </a:pPr>
            <a:r>
              <a:rPr sz="4050" b="1">
                <a:solidFill>
                  <a:srgbClr val="19A974"/>
                </a:solidFill>
              </a:rPr>
              <a:t>Detecta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6F21F-224E-438E-BF09-C7A46FDD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pessoa e EPI ausente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F49F-12F2-4BD4-8CCF-56D3AEB0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521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O painel muda para perigo e informa o item faltante.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3180A-F956-46E2-91D0-4218BF90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57650"/>
            <a:ext cx="521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E6F95"/>
                </a:solidFill>
              </a:defRPr>
            </a:pPr>
            <a:r>
              <a:rPr sz="4050" b="1">
                <a:solidFill>
                  <a:srgbClr val="2E6F95"/>
                </a:solidFill>
              </a:rPr>
              <a:t>Reconhece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B2643-A5DD-4311-9006-96CB185E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053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funcionario cadastrado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C987F-02F5-49BE-B9E0-F0F751F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521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O modelo de funcionarios aparece como camada extra de identificacao.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66E05-CED7-4FBD-A4ED-914CE4F6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057650"/>
            <a:ext cx="521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B020"/>
                </a:solidFill>
              </a:defRPr>
            </a:pPr>
            <a:r>
              <a:rPr sz="4050" b="1">
                <a:solidFill>
                  <a:srgbClr val="FFB020"/>
                </a:solidFill>
              </a:rPr>
              <a:t>Integra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62D2D-217B-4FD7-AEA7-A1E3758F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7053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dados por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5922B-C9AE-41E8-9E27-E12747F6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067300"/>
            <a:ext cx="5219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Empresas podem consultar status, funcionarios e EPIs ausentes.</a:t>
            </a:r>
          </a:p>
        </p:txBody>
      </p:sp>
    </p:spTree>
    <p:extLst>
      <p:ext uri="{BB962C8B-B14F-4D97-AF65-F5344CB8AC3E}">
        <p14:creationId xmlns:p14="http://schemas.microsoft.com/office/powerpoint/2010/main" val="19990152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787EFF8-58E8-4EE7-97BA-443A5A61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FEE4D-50DE-4ECE-9E6F-03FE8547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5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0EBEF-71AC-4A29-ADDA-D838789D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42950"/>
            <a:ext cx="106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95"/>
                </a:solidFill>
              </a:defRPr>
            </a:pPr>
            <a:r>
              <a:rPr sz="1350" b="1">
                <a:solidFill>
                  <a:srgbClr val="2E6F95"/>
                </a:solidFill>
              </a:rPr>
              <a:t>Como funciona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C12E18-D8DE-4887-8581-5BF523AF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80391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820"/>
                </a:solidFill>
              </a:defRPr>
            </a:pPr>
            <a:r>
              <a:rPr sz="5250" b="1">
                <a:solidFill>
                  <a:srgbClr val="101820"/>
                </a:solidFill>
              </a:rPr>
              <a:t>Camera, IA, dashboard e API.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1806E5-2D4B-4C80-8A7F-D11AC4E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31051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46E"/>
                </a:solidFill>
              </a:defRPr>
            </a:pPr>
            <a:r>
              <a:rPr sz="2250">
                <a:solidFill>
                  <a:srgbClr val="59646E"/>
                </a:solidFill>
              </a:rPr>
              <a:t>Quatro etapas ate o alerta.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A1DFE-DBAF-4E7F-9A54-230739D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685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E6F95"/>
                </a:solidFill>
              </a:defRPr>
            </a:pPr>
            <a:r>
              <a:rPr sz="3450" b="1">
                <a:solidFill>
                  <a:srgbClr val="2E6F9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FB4CE-A020-4F0D-9B23-1992D084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81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Camera envia frames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3B396-B3EB-4C3D-B5DE-917B4C0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81500"/>
            <a:ext cx="685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9A974"/>
                </a:solidFill>
              </a:defRPr>
            </a:pPr>
            <a:r>
              <a:rPr sz="3450" b="1">
                <a:solidFill>
                  <a:srgbClr val="19A974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CB051-DBCC-454B-A0BE-3FD8FEE3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Backend processa com 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6041F-069F-4C28-9331-425EF8B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81500"/>
            <a:ext cx="685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B020"/>
                </a:solidFill>
              </a:defRPr>
            </a:pPr>
            <a:r>
              <a:rPr sz="3450" b="1">
                <a:solidFill>
                  <a:srgbClr val="FFB020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DA5D7-35DE-480E-BEE9-814DBF19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81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Dashboard recebe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0D336-E7C3-49B1-AF48-5469B998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381500"/>
            <a:ext cx="685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94B4B"/>
                </a:solidFill>
              </a:defRPr>
            </a:pPr>
            <a:r>
              <a:rPr sz="3450" b="1">
                <a:solidFill>
                  <a:srgbClr val="D94B4B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B891B-673B-4C0B-9218-EDE0306F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4381500"/>
            <a:ext cx="300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API libera integracao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6B290-D437-4F95-864B-545B743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solidFill>
              <a:srgbClr val="C9D0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C3153-73FC-4251-B6DF-2F7A153C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62700"/>
            <a:ext cx="137350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01820"/>
                </a:solidFill>
              </a:defRPr>
            </a:pPr>
            <a:r>
              <a:rPr sz="2325">
                <a:solidFill>
                  <a:srgbClr val="101820"/>
                </a:solidFill>
              </a:rPr>
              <a:t>No prototipo, o navegador envia frames em duas rotas paralelas. O backend consome o frame mais recente, roda o modelo YOLO ou TensorRT e retorna imagem anotada, FPS, alertas e deteccoes.</a:t>
            </a:r>
          </a:p>
        </p:txBody>
      </p:sp>
    </p:spTree>
    <p:extLst>
      <p:ext uri="{BB962C8B-B14F-4D97-AF65-F5344CB8AC3E}">
        <p14:creationId xmlns:p14="http://schemas.microsoft.com/office/powerpoint/2010/main" val="1794341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39E565B-C550-41B5-850E-7D817C25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40A53-2B7B-4AB3-BD51-8DE737FA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40997-3D5E-46FF-AF8E-18E3338F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42950"/>
            <a:ext cx="685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020"/>
                </a:solidFill>
              </a:defRPr>
            </a:pPr>
            <a:r>
              <a:rPr sz="1350" b="1">
                <a:solidFill>
                  <a:srgbClr val="FFB020"/>
                </a:solidFill>
              </a:rPr>
              <a:t>Prototipo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41FF2A-539B-43AF-89AA-D2CD6FC7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05918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820"/>
                </a:solidFill>
              </a:defRPr>
            </a:pPr>
            <a:r>
              <a:rPr sz="5250" b="1">
                <a:solidFill>
                  <a:srgbClr val="101820"/>
                </a:solidFill>
              </a:rPr>
              <a:t>O TCC entrega um fluxo demonstravel.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3F800B-6AA3-47EB-A988-AB4A0CB5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52578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46E"/>
                </a:solidFill>
              </a:defRPr>
            </a:pPr>
            <a:r>
              <a:rPr sz="2250">
                <a:solidFill>
                  <a:srgbClr val="59646E"/>
                </a:solidFill>
              </a:rPr>
              <a:t>Login, cadastro, camera, IA, alerta e relatorio.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BCA5B-2CC5-49FB-A809-09F1B1C3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69424-895E-49A0-AA17-245A218A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6245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Cadastro de EPIs e fotos.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C43F1-1800-4FE6-9EB7-8C15E8B8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E6A62-579F-4C8B-8863-C2230C35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2400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Treino de modelo por EPI.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2942D-305A-48FA-A11C-EE0A5F4E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7643F-A5FB-481F-81E4-9C1890B0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76900"/>
            <a:ext cx="2209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Funcionarios com fotos.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FF2C8-4F88-4A9A-8646-7BB3E175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77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6D1E6-C71D-4C27-B83F-1D072EB5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77000"/>
            <a:ext cx="2895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Camera local, remota ou video.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29341-1BDC-46A9-8B0D-748AF275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5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781A8-5D88-4C12-89AB-0E791CB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58050"/>
            <a:ext cx="1695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Status por stream.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D309B-A7B3-4813-A80A-7A2A977B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62450"/>
            <a:ext cx="790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9A974"/>
                </a:solidFill>
              </a:defRPr>
            </a:pPr>
            <a:r>
              <a:rPr sz="4050" b="1">
                <a:solidFill>
                  <a:srgbClr val="19A974"/>
                </a:solidFill>
              </a:rPr>
              <a:t>POC validada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5014B-8BFE-4E28-A6C8-E4B81E42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10150"/>
            <a:ext cx="790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camera + inferencia +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4AC61-0C16-488F-B888-AEF55B02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48300"/>
            <a:ext cx="790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E6F95"/>
                </a:solidFill>
              </a:defRPr>
            </a:pPr>
            <a:r>
              <a:rPr sz="4050" b="1">
                <a:solidFill>
                  <a:srgbClr val="2E6F95"/>
                </a:solidFill>
              </a:rPr>
              <a:t>Dados por usuario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78F42-ADA0-4187-BC6E-DE60A07F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096000"/>
            <a:ext cx="790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modelos, fotos e metadados separados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9BBC3-0254-4119-8658-6EF92A7B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6534150"/>
            <a:ext cx="7905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94B4B"/>
                </a:solidFill>
              </a:defRPr>
            </a:pPr>
            <a:r>
              <a:rPr sz="4050" b="1">
                <a:solidFill>
                  <a:srgbClr val="D94B4B"/>
                </a:solidFill>
              </a:rPr>
              <a:t>Pronto para banca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4A23B-5046-485E-B9F7-67BAAC20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7181850"/>
            <a:ext cx="790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video, slides, canvases e requisitos</a:t>
            </a:r>
          </a:p>
        </p:txBody>
      </p:sp>
    </p:spTree>
    <p:extLst>
      <p:ext uri="{BB962C8B-B14F-4D97-AF65-F5344CB8AC3E}">
        <p14:creationId xmlns:p14="http://schemas.microsoft.com/office/powerpoint/2010/main" val="18221636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E363925-42BE-4D49-80B4-F23CAE4D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430C5-6672-44F3-997B-9C6C8907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B34F9-8BF6-4464-8A80-01C19B34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429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020"/>
                </a:solidFill>
              </a:defRPr>
            </a:pPr>
            <a:r>
              <a:rPr sz="1350" b="1">
                <a:solidFill>
                  <a:srgbClr val="FFB020"/>
                </a:solidFill>
              </a:rPr>
              <a:t>Arquitetura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2AEA1-8C74-40DF-887A-CBFE27A4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64389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7EA"/>
                </a:solidFill>
              </a:defRPr>
            </a:pPr>
            <a:r>
              <a:rPr sz="4500" b="1">
                <a:solidFill>
                  <a:srgbClr val="FFF7EA"/>
                </a:solidFill>
              </a:rPr>
              <a:t>Hub central para backends.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6120E-3435-42FE-83B9-ED356635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72580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7E0E6"/>
                </a:solidFill>
              </a:defRPr>
            </a:pPr>
            <a:r>
              <a:rPr sz="2250">
                <a:solidFill>
                  <a:srgbClr val="D7E0E6"/>
                </a:solidFill>
              </a:rPr>
              <a:t>O frontend consulta o Render e usa o backend mais disponivel.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61B6C-E22E-4595-AE83-63D2B7FE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7EA"/>
                </a:solidFill>
              </a:defRPr>
            </a:pPr>
            <a:r>
              <a:rPr sz="3600" b="1">
                <a:solidFill>
                  <a:srgbClr val="FFF7EA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6D358-A75F-4C42-93E6-B39761C6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181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7E0E6"/>
                </a:solidFill>
              </a:defRPr>
            </a:pPr>
            <a:r>
              <a:rPr sz="1875">
                <a:solidFill>
                  <a:srgbClr val="D7E0E6"/>
                </a:solidFill>
              </a:rPr>
              <a:t>Vercel ou navegador. Pede a lista ao hub e conversa com o melhor backend.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E9F54-4B38-4219-9C4F-173D0903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B020"/>
                </a:solidFill>
              </a:defRPr>
            </a:pPr>
            <a:r>
              <a:rPr sz="3600" b="1">
                <a:solidFill>
                  <a:srgbClr val="FFB020"/>
                </a:solidFill>
              </a:rPr>
              <a:t>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4C2D6-B8C0-478A-BA8A-4F6FC061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14850"/>
            <a:ext cx="5181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7E0E6"/>
                </a:solidFill>
              </a:defRPr>
            </a:pPr>
            <a:r>
              <a:rPr sz="1875">
                <a:solidFill>
                  <a:srgbClr val="D7E0E6"/>
                </a:solidFill>
              </a:rPr>
              <a:t>Render. Guarda URL, ping, hardware, carga e disponibilidade dos backends.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ECF79-15AD-4DE1-ADF0-A2136B28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829050"/>
            <a:ext cx="5181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9A974"/>
                </a:solidFill>
              </a:defRPr>
            </a:pPr>
            <a:r>
              <a:rPr sz="3600" b="1">
                <a:solidFill>
                  <a:srgbClr val="19A974"/>
                </a:solidFill>
              </a:rPr>
              <a:t>Backends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EDC88-AAB1-416C-80B9-4FA03DDE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14850"/>
            <a:ext cx="51816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7E0E6"/>
                </a:solidFill>
              </a:defRPr>
            </a:pPr>
            <a:r>
              <a:rPr sz="1875">
                <a:solidFill>
                  <a:srgbClr val="D7E0E6"/>
                </a:solidFill>
              </a:rPr>
              <a:t>Maquinas locais ou remotas via Cloudflare. Podem ser CPU, DML ou NVIDIA.</a:t>
            </a:r>
          </a:p>
        </p:txBody>
      </p:sp>
    </p:spTree>
    <p:extLst>
      <p:ext uri="{BB962C8B-B14F-4D97-AF65-F5344CB8AC3E}">
        <p14:creationId xmlns:p14="http://schemas.microsoft.com/office/powerpoint/2010/main" val="9539011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EC1FECC-28C9-4E71-A2BD-AE6DA8F9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21CB7-A7BB-4063-8DA7-4528BE67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974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68F2E-BC39-4417-A970-F5F6B047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42950"/>
            <a:ext cx="95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A974"/>
                </a:solidFill>
              </a:defRPr>
            </a:pPr>
            <a:r>
              <a:rPr sz="1350" b="1">
                <a:solidFill>
                  <a:srgbClr val="19A974"/>
                </a:solidFill>
              </a:rPr>
              <a:t>Desempenho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4B776C-D881-4964-83E0-E6177781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34302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820"/>
                </a:solidFill>
              </a:defRPr>
            </a:pPr>
            <a:r>
              <a:rPr sz="5250" b="1">
                <a:solidFill>
                  <a:srgbClr val="101820"/>
                </a:solidFill>
              </a:rPr>
              <a:t>Quando houver NVIDIA, o modelo vira TensorRT.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24717F-742E-4A0E-B376-7CA3D2F4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5600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46E"/>
                </a:solidFill>
              </a:defRPr>
            </a:pPr>
            <a:r>
              <a:rPr sz="2250">
                <a:solidFill>
                  <a:srgbClr val="59646E"/>
                </a:solidFill>
              </a:rPr>
              <a:t>A opcao fica automatica no backend compativel.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D763E-A3D4-4E50-94E3-514E4BCB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3962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E6F95"/>
                </a:solidFill>
              </a:defRPr>
            </a:pPr>
            <a:r>
              <a:rPr sz="4050" b="1">
                <a:solidFill>
                  <a:srgbClr val="2E6F95"/>
                </a:solidFill>
              </a:rPr>
              <a:t>.pt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D2947-63AC-49F6-A724-6BA603DB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396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modelo treinado ou enviado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155DE-BD8A-466B-8FB0-0347C0D9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05300"/>
            <a:ext cx="762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9646E"/>
                </a:solidFill>
              </a:defRPr>
            </a:pPr>
            <a:r>
              <a:rPr sz="4350" b="1">
                <a:solidFill>
                  <a:srgbClr val="59646E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6D261-4A63-4F72-A742-99F7515C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05300"/>
            <a:ext cx="3962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9A974"/>
                </a:solidFill>
              </a:defRPr>
            </a:pPr>
            <a:r>
              <a:rPr sz="4050" b="1">
                <a:solidFill>
                  <a:srgbClr val="19A974"/>
                </a:solidFill>
              </a:rPr>
              <a:t>.engine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6E0F7-6C95-4F31-BF5B-82CD508E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53000"/>
            <a:ext cx="396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otimizado para NVIDIA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C003C-D630-44CB-B4EE-11A8B89F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305300"/>
            <a:ext cx="762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9646E"/>
                </a:solidFill>
              </a:defRPr>
            </a:pPr>
            <a:r>
              <a:rPr sz="4350" b="1">
                <a:solidFill>
                  <a:srgbClr val="59646E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7861D-E81D-4423-A4E2-17D134EC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305300"/>
            <a:ext cx="3962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B020"/>
                </a:solidFill>
              </a:defRPr>
            </a:pPr>
            <a:r>
              <a:rPr sz="4050" b="1">
                <a:solidFill>
                  <a:srgbClr val="FFB020"/>
                </a:solidFill>
              </a:rPr>
              <a:t>FPS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7D053-B562-486F-A8A2-6C09F120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953000"/>
            <a:ext cx="3962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menor latencia na inferencia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8AA6C-8AC1-4B11-8D80-B1EBF4C3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97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CD806-E6B4-45CA-8331-018750D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00700"/>
            <a:ext cx="7677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01820"/>
                </a:solidFill>
              </a:defRPr>
            </a:pPr>
            <a:r>
              <a:rPr sz="2100">
                <a:solidFill>
                  <a:srgbClr val="101820"/>
                </a:solidFill>
              </a:rPr>
              <a:t>Upload ou treino de modelo pode iniciar conversao em segundo plano.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CCA32-F91C-429E-8323-82B4D2D1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974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B94CD-9A49-4EB1-A123-F1E0A806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00800"/>
            <a:ext cx="6515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01820"/>
                </a:solidFill>
              </a:defRPr>
            </a:pPr>
            <a:r>
              <a:rPr sz="2100">
                <a:solidFill>
                  <a:srgbClr val="101820"/>
                </a:solidFill>
              </a:rPr>
              <a:t>Na inferencia, o backend NVIDIA prefere o arquivo `.engine`.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B0FE8-A499-4F65-BF49-4F986C02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9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A974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51E02-5139-439A-B38B-4A976072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19950"/>
            <a:ext cx="5848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01820"/>
                </a:solidFill>
              </a:defRPr>
            </a:pPr>
            <a:r>
              <a:rPr sz="2100">
                <a:solidFill>
                  <a:srgbClr val="101820"/>
                </a:solidFill>
              </a:rPr>
              <a:t>Se a engine falhar, o sistema volta para o `.pt` original.</a:t>
            </a:r>
          </a:p>
        </p:txBody>
      </p:sp>
    </p:spTree>
    <p:extLst>
      <p:ext uri="{BB962C8B-B14F-4D97-AF65-F5344CB8AC3E}">
        <p14:creationId xmlns:p14="http://schemas.microsoft.com/office/powerpoint/2010/main" val="67606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4BFC355-B778-4B41-8923-BAFFF878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C8061-D3FD-496A-9C69-83295F85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5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36094-8D47-47F4-B8C0-274CB489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4295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95"/>
                </a:solidFill>
              </a:defRPr>
            </a:pPr>
            <a:r>
              <a:rPr sz="1350" b="1">
                <a:solidFill>
                  <a:srgbClr val="2E6F95"/>
                </a:solidFill>
              </a:rPr>
              <a:t>Integracao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98E1C1-BACF-4C8F-93A5-677B88B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32588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820"/>
                </a:solidFill>
              </a:defRPr>
            </a:pPr>
            <a:r>
              <a:rPr sz="5250" b="1">
                <a:solidFill>
                  <a:srgbClr val="101820"/>
                </a:solidFill>
              </a:rPr>
              <a:t>A empresa pode consumir as deteccoes por API.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E61248F-084A-4134-9C94-8D1BA06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4610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46E"/>
                </a:solidFill>
              </a:defRPr>
            </a:pPr>
            <a:r>
              <a:rPr sz="2250">
                <a:solidFill>
                  <a:srgbClr val="59646E"/>
                </a:solidFill>
              </a:rPr>
              <a:t>O alerta vira dado para outros sistemas.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94AF3-D8EF-45F6-9961-B8BC221B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7867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Endpoints principais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C6DBE-320F-461E-A32D-924B43F6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5FF52-8216-46FD-B5BF-DCCCBAF9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1905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GET /api/v1/streams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CE8BB-DF2B-4C53-A1E2-54347F1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5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55B93-7795-4D2C-A75E-A7A0556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3371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GET /api/v1/streams/{id}/detections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1E1EE-DF08-4457-8E6C-185B9F72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5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757E57-4899-4B22-A087-B0F76CCB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19800"/>
            <a:ext cx="2324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GET /api/v1/funcionarios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C7D05-8859-4EEA-AF33-94FFC648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43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6A18E-DE3F-462C-8DA9-56107382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743700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0"/>
                </a:solidFill>
              </a:defRPr>
            </a:pPr>
            <a:r>
              <a:rPr sz="1800">
                <a:solidFill>
                  <a:srgbClr val="101820"/>
                </a:solidFill>
              </a:rPr>
              <a:t>GET /api/v1/epis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0E573-B453-43E6-80BF-18B24592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81450"/>
            <a:ext cx="7867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Exemplo de retorno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EAC73-2A2C-4D37-BD3D-0C01B54E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72000"/>
            <a:ext cx="78676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94B4B"/>
                </a:solidFill>
              </a:defRPr>
            </a:pPr>
            <a:r>
              <a:rPr sz="2325" b="1">
                <a:solidFill>
                  <a:srgbClr val="D94B4B"/>
                </a:solidFill>
              </a:rPr>
              <a:t>funcionario identificado</a:t>
            </a:r>
          </a:p>
          <a:p xmlns:a="http://schemas.openxmlformats.org/drawingml/2006/main">
            <a:pPr>
              <a:defRPr sz="2325" b="1">
                <a:solidFill>
                  <a:srgbClr val="D94B4B"/>
                </a:solidFill>
              </a:defRPr>
            </a:pPr>
            <a:r>
              <a:rPr sz="2325" b="1">
                <a:solidFill>
                  <a:srgbClr val="D94B4B"/>
                </a:solidFill>
              </a:rPr>
              <a:t>EPI ausente: capacete</a:t>
            </a:r>
          </a:p>
          <a:p xmlns:a="http://schemas.openxmlformats.org/drawingml/2006/main">
            <a:pPr>
              <a:defRPr sz="2325" b="1">
                <a:solidFill>
                  <a:srgbClr val="D94B4B"/>
                </a:solidFill>
              </a:defRPr>
            </a:pPr>
            <a:r>
              <a:rPr sz="2325" b="1">
                <a:solidFill>
                  <a:srgbClr val="D94B4B"/>
                </a:solidFill>
              </a:rPr>
              <a:t>status: perigo</a:t>
            </a:r>
          </a:p>
          <a:p xmlns:a="http://schemas.openxmlformats.org/drawingml/2006/main">
            <a:pPr>
              <a:defRPr sz="2325" b="1">
                <a:solidFill>
                  <a:srgbClr val="D94B4B"/>
                </a:solidFill>
              </a:defRPr>
            </a:pPr>
            <a:r>
              <a:rPr sz="2325" b="1">
                <a:solidFill>
                  <a:srgbClr val="D94B4B"/>
                </a:solidFill>
              </a:rPr>
              <a:t>runtime: tensorrt</a:t>
            </a:r>
          </a:p>
        </p:txBody>
      </p:sp>
    </p:spTree>
    <p:extLst>
      <p:ext uri="{BB962C8B-B14F-4D97-AF65-F5344CB8AC3E}">
        <p14:creationId xmlns:p14="http://schemas.microsoft.com/office/powerpoint/2010/main" val="18821387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566F82F-5BCC-4A39-BF38-8642CF1C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0E9DC-174D-469C-82CE-1F410BEC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40188-B6CB-407F-94BE-DA7FF443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742950"/>
            <a:ext cx="800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020"/>
                </a:solidFill>
              </a:defRPr>
            </a:pPr>
            <a:r>
              <a:rPr sz="1350" b="1">
                <a:solidFill>
                  <a:srgbClr val="FFB020"/>
                </a:solidFill>
              </a:rPr>
              <a:t>Viabilidade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3200EE-6751-4134-B548-7EC9B6D7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71600"/>
            <a:ext cx="130873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01820"/>
                </a:solidFill>
              </a:defRPr>
            </a:pPr>
            <a:r>
              <a:rPr sz="5250" b="1">
                <a:solidFill>
                  <a:srgbClr val="101820"/>
                </a:solidFill>
              </a:rPr>
              <a:t>A POC comeca barata e cresce por necessidade.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ECE4C3B-71B0-41C3-BD9C-D3BE24A0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5848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46E"/>
                </a:solidFill>
              </a:defRPr>
            </a:pPr>
            <a:r>
              <a:rPr sz="2250">
                <a:solidFill>
                  <a:srgbClr val="59646E"/>
                </a:solidFill>
              </a:rPr>
              <a:t>O custo depende de cameras, hardware e suporte.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C6491-E655-4DA7-9809-BC8170A4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5200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9A974"/>
                </a:solidFill>
              </a:defRPr>
            </a:pPr>
            <a:r>
              <a:rPr sz="4050" b="1">
                <a:solidFill>
                  <a:srgbClr val="19A974"/>
                </a:solidFill>
              </a:rPr>
              <a:t>Basico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0A2AF-2871-4490-A19D-DB02F854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520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ate 2 cameras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DEC1B-75C7-46FE-99BC-B7F8E7F1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5200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Frontend e hub em planos gratuitos; backend local com camera existente.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94A92-EF86-419A-AEDE-54437AB1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43350"/>
            <a:ext cx="5200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E6F95"/>
                </a:solidFill>
              </a:defRPr>
            </a:pPr>
            <a:r>
              <a:rPr sz="4050" b="1">
                <a:solidFill>
                  <a:srgbClr val="2E6F95"/>
                </a:solidFill>
              </a:rPr>
              <a:t>Profissional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870A8-EE02-49B5-A0B1-431856ED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91050"/>
            <a:ext cx="520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mais cameras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681D4-5B34-41D2-A23C-D63A4A57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5200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PC dedicado, cameras IP e assinatura por quantidade de streams.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D7F5B-D7BC-4474-BCFA-6E1C1DBD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943350"/>
            <a:ext cx="5200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B020"/>
                </a:solidFill>
              </a:defRPr>
            </a:pPr>
            <a:r>
              <a:rPr sz="4050" b="1">
                <a:solidFill>
                  <a:srgbClr val="FFB020"/>
                </a:solidFill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7AABC-57C0-4411-996D-2E58F093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591050"/>
            <a:ext cx="520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integracao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778D7-1D5C-4ADA-8388-64101114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972050"/>
            <a:ext cx="5200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0"/>
                </a:solidFill>
              </a:defRPr>
            </a:pPr>
            <a:r>
              <a:rPr sz="1875">
                <a:solidFill>
                  <a:srgbClr val="101820"/>
                </a:solidFill>
              </a:rPr>
              <a:t>Plano para empresas que querem enviar alertas a sistemas internos.</a:t>
            </a:r>
          </a:p>
        </p:txBody>
      </p:sp>
    </p:spTree>
    <p:extLst>
      <p:ext uri="{BB962C8B-B14F-4D97-AF65-F5344CB8AC3E}">
        <p14:creationId xmlns:p14="http://schemas.microsoft.com/office/powerpoint/2010/main" val="14737001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273739F-1D50-45B9-9100-2705E54C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1AF93-B2A2-4D33-8204-B996F6A5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"/>
            <a:ext cx="1362075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7EA"/>
                </a:solidFill>
              </a:defRPr>
            </a:pPr>
            <a:r>
              <a:rPr sz="5700" b="1">
                <a:solidFill>
                  <a:srgbClr val="FFF7EA"/>
                </a:solidFill>
              </a:rPr>
              <a:t>Seguranca do trabalho nao deve depender da sorte de alguem estar olhando no momento certo.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2298E-55A9-47C1-89A5-7EC91599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3048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20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D2455-D0E7-4229-9090-34C48EA2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119634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7E0E6"/>
                </a:solidFill>
              </a:defRPr>
            </a:pPr>
            <a:r>
              <a:rPr sz="2550">
                <a:solidFill>
                  <a:srgbClr val="D7E0E6"/>
                </a:solidFill>
              </a:rPr>
              <a:t>O Vigilancia EPI coloca a tecnologia para olhar junto: detectando risco, apoiando a equipe e criando registro para decisao.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08548-AA08-4EDB-B882-DE16FD81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86400"/>
            <a:ext cx="4819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B020"/>
                </a:solidFill>
              </a:defRPr>
            </a:pPr>
            <a:r>
              <a:rPr sz="4050" b="1">
                <a:solidFill>
                  <a:srgbClr val="FFB020"/>
                </a:solidFill>
              </a:rPr>
              <a:t>proximo passo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D1336-DAE8-4429-8072-09EADAF7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34100"/>
            <a:ext cx="481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testes com dataset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2D730-8FC8-4CF4-94D3-07DC0606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86400"/>
            <a:ext cx="4819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9A974"/>
                </a:solidFill>
              </a:defRPr>
            </a:pPr>
            <a:r>
              <a:rPr sz="4050" b="1">
                <a:solidFill>
                  <a:srgbClr val="19A974"/>
                </a:solidFill>
              </a:rPr>
              <a:t>melhoria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D4538-F8B5-41B4-A44B-F0D42D82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134100"/>
            <a:ext cx="481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privacidade e auditoria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76C25-236E-4A69-A775-10FC716F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486400"/>
            <a:ext cx="4819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7FC8F8"/>
                </a:solidFill>
              </a:defRPr>
            </a:pPr>
            <a:r>
              <a:rPr sz="4050" b="1">
                <a:solidFill>
                  <a:srgbClr val="7FC8F8"/>
                </a:solidFill>
              </a:rPr>
              <a:t>escala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8564A-A97A-4433-B5AF-350FEC72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134100"/>
            <a:ext cx="4819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1820"/>
                </a:solidFill>
              </a:defRPr>
            </a:pPr>
            <a:r>
              <a:rPr sz="1350">
                <a:solidFill>
                  <a:srgbClr val="101820"/>
                </a:solidFill>
              </a:rPr>
              <a:t>piloto em ambiente real</a:t>
            </a:r>
          </a:p>
        </p:txBody>
      </p:sp>
    </p:spTree>
    <p:extLst>
      <p:ext uri="{BB962C8B-B14F-4D97-AF65-F5344CB8AC3E}">
        <p14:creationId xmlns:p14="http://schemas.microsoft.com/office/powerpoint/2010/main" val="1657679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2026-05-09T23:55:53.9390000Z</dcterms:created>
  <dcterms:modified xsi:type="dcterms:W3CDTF">2026-05-09T23:55:53.9390000Z</dcterms:modified>
</coreProperties>
</file>